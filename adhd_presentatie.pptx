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57200"/>
            <a:ext cx="2688336" cy="292608"/>
          </a:xfrm>
          <a:prstGeom prst="rect">
            <a:avLst/>
          </a:prstGeom>
          <a:solidFill>
            <a:srgbClr val="2A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484632"/>
            <a:ext cx="2505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INFORMATIEVE PRESENTATIE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A78BFA"/>
                </a:solidFill>
              </a:rPr>
              <a:t>ADHD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68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888888"/>
                </a:solidFill>
              </a:rPr>
              <a:t>Aandachtstekortstoornis met Hyperactiviteit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200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Wat is het? Wie heeft het? En hoe leven mensen ermee?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79576" cy="292608"/>
          </a:xfrm>
          <a:prstGeom prst="rect">
            <a:avLst/>
          </a:prstGeom>
          <a:solidFill>
            <a:srgbClr val="2A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393192"/>
            <a:ext cx="996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DEFINITIE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A78BFA"/>
                </a:solidFill>
              </a:rPr>
              <a:t>Wat is ADHD?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830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ADHD staat voor Attention Deficit Hyperactivity Disorder — in het Nederlands: aandachtstekortstoornis met hyperactiviteit.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560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Het is een neurologische ontwikkelingsstoornis die invloed heeft op aandacht, impulscontrole en activiteitsniveau. ADHD begint in de kindertijd, maar blijft bij veel mensen aanwezig tot in de volwassenheid.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3375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De hersenen van iemand met ADHD werken anders — niet slechter, maar anders.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777240" cy="292608"/>
          </a:xfrm>
          <a:prstGeom prst="rect">
            <a:avLst/>
          </a:prstGeom>
          <a:solidFill>
            <a:srgbClr val="2A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393192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TYPEN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A78BFA"/>
                </a:solidFill>
              </a:rPr>
              <a:t>De drie vormen van ADHD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5394960" cy="201168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385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Overwegend Onoplettend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▸  Moeite met concentreren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▸  Snel afgeleid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▸  Vergeetachtig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▸  Vroeger 'ADD' genoemd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828800"/>
            <a:ext cx="5394960" cy="201168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9385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Overwegend Hyperactief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228600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▸  Veel bewegen, friemelen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▸  Impulsief handelen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▸  Moeite met stilzitten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▸  Vaker bij jonge kinderen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023360"/>
            <a:ext cx="10972800" cy="128016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13308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Gecombineerd type — meest voorkomend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480560"/>
            <a:ext cx="1069848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▸  Kenmerken van zowel onoplettendheid als hyperactiviteit/impulsiviteit zijn aanwezig.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79576" cy="292608"/>
          </a:xfrm>
          <a:prstGeom prst="rect">
            <a:avLst/>
          </a:prstGeom>
          <a:solidFill>
            <a:srgbClr val="2A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393192"/>
            <a:ext cx="996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SYMPTOMEN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A78BFA"/>
                </a:solidFill>
              </a:rPr>
              <a:t>Veelvoorkomende symptomen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5394960" cy="32004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385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Onoplettendheid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5120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▸  Moeite met taken afmaken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▸  Spullen kwijtraken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▸  Dagdromen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▸  Slecht luisteren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▸  Moeite met plannen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828800"/>
            <a:ext cx="5394960" cy="32004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9385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Hyperactiviteit &amp; Impulsiviteit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2286000"/>
            <a:ext cx="5120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▸  Niet kunnen wachten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▸  Anderen onderbreken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▸  Rusteloos gevoel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▸  Veel praten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▸  Risicovol gedrag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883664" cy="292608"/>
          </a:xfrm>
          <a:prstGeom prst="rect">
            <a:avLst/>
          </a:prstGeom>
          <a:solidFill>
            <a:srgbClr val="2A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393192"/>
            <a:ext cx="17007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FEITEN &amp; CIJFERS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A78BFA"/>
                </a:solidFill>
              </a:rPr>
              <a:t>ADHD in getallen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20240"/>
            <a:ext cx="3566160" cy="155448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3383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78BFA"/>
                </a:solidFill>
              </a:rPr>
              <a:t>5–7%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3383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</a:rPr>
              <a:t>van kinderen
worldwijd heeft ADHD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920240"/>
            <a:ext cx="3566160" cy="155448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2057400"/>
            <a:ext cx="3383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78BFA"/>
                </a:solidFill>
              </a:rPr>
              <a:t>2–5%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697480"/>
            <a:ext cx="3383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</a:rPr>
              <a:t>van volwassenen
heeft ADHD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1920240"/>
            <a:ext cx="3566160" cy="155448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2057400"/>
            <a:ext cx="3383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78BFA"/>
                </a:solidFill>
              </a:rPr>
              <a:t>~170.000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697480"/>
            <a:ext cx="3383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</a:rPr>
              <a:t>mensen in Nederland
met diagnose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57600"/>
            <a:ext cx="3566160" cy="155448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794760"/>
            <a:ext cx="3383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78BFA"/>
                </a:solidFill>
              </a:rPr>
              <a:t>3×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34840"/>
            <a:ext cx="3383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</a:rPr>
              <a:t>vaker gediagnosticeerd
bij jongens dan meisjes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3657600"/>
            <a:ext cx="3566160" cy="155448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3794760"/>
            <a:ext cx="3383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78BFA"/>
                </a:solidFill>
              </a:rPr>
              <a:t>60%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434840"/>
            <a:ext cx="3383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</a:rPr>
              <a:t>houdt symptomen
tot in volwassenheid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3657600"/>
            <a:ext cx="3566160" cy="155448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3794760"/>
            <a:ext cx="3383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78BFA"/>
                </a:solidFill>
              </a:rPr>
              <a:t>75%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4434840"/>
            <a:ext cx="3383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</a:rPr>
              <a:t>erfelijkheid — sterk
genetisch bepaald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078992" cy="292608"/>
          </a:xfrm>
          <a:prstGeom prst="rect">
            <a:avLst/>
          </a:prstGeom>
          <a:solidFill>
            <a:srgbClr val="2A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393192"/>
            <a:ext cx="896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OORZAKEN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A78BFA"/>
                </a:solidFill>
              </a:rPr>
              <a:t>Waardoor ontstaat ADHD?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373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ADHD heeft geen één enkele oorzaak. Het is een samenspel van meerdere factoren: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331720"/>
            <a:ext cx="11430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>
                <a:solidFill>
                  <a:srgbClr val="CCCCCC"/>
                </a:solidFill>
              </a:rPr>
              <a:t>▸  Genetica — ADHD is sterk erfelijk; het komt vaak voor in families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>
                <a:solidFill>
                  <a:srgbClr val="CCCCCC"/>
                </a:solidFill>
              </a:rPr>
              <a:t>▸  Hersenontwikkeling — bepaalde hersengebieden (prefrontale cortex) ontwikkelen zich trager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>
                <a:solidFill>
                  <a:srgbClr val="CCCCCC"/>
                </a:solidFill>
              </a:rPr>
              <a:t>▸  Dopamine &amp; Noradrenaline — tekort aan deze neurotransmitters speelt een rol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>
                <a:solidFill>
                  <a:srgbClr val="CCCCCC"/>
                </a:solidFill>
              </a:rPr>
              <a:t>▸  Omgevingsfactoren — vroeggeboorte, roken tijdens zwangerschap, stress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>
                <a:solidFill>
                  <a:srgbClr val="CCCCCC"/>
                </a:solidFill>
              </a:rPr>
              <a:t>▸  Slecht opvoeden of te veel schermtijd zijn GEEN oorzaak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380744" cy="292608"/>
          </a:xfrm>
          <a:prstGeom prst="rect">
            <a:avLst/>
          </a:prstGeom>
          <a:solidFill>
            <a:srgbClr val="2A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393192"/>
            <a:ext cx="1197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BEHANDELING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A78BFA"/>
                </a:solidFill>
              </a:rPr>
              <a:t>Diagnose &amp; Behandeling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5394960" cy="256032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385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Hoe wordt het vastgesteld?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512064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▸  Gesprekken met psycholoog/psychiater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▸  Vragenlijsten (zelf &amp; omgeving)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▸  Observatie van gedrag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▸  Symptomen aanwezig voor 12e jaar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828800"/>
            <a:ext cx="5394960" cy="256032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9385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Behandelmogelijkheden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2286000"/>
            <a:ext cx="512064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▸  Medicatie (Ritalin, Concerta)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▸  Cognitieve gedragstherapie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▸  Coaching &amp; begeleiding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▸  Psycho-educatie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▸  Aanpassingen op school/werk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663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88"/>
                </a:solidFill>
              </a:rPr>
              <a:t>Er is geen genezing, maar met de juiste hulp kunnen mensen met ADHD goed functioneren.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682496" cy="292608"/>
          </a:xfrm>
          <a:prstGeom prst="rect">
            <a:avLst/>
          </a:prstGeom>
          <a:solidFill>
            <a:srgbClr val="2A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393192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LEVEN MET ADHD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A78BFA"/>
                </a:solidFill>
              </a:rPr>
              <a:t>Sterke kanten van ADHD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373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ADHD brengt uitdagingen, maar ook unieke sterke kanten: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331720"/>
            <a:ext cx="11430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>
                <a:solidFill>
                  <a:srgbClr val="CCCCCC"/>
                </a:solidFill>
              </a:rPr>
              <a:t>▸  Hyperfocus — intense concentratie op interessante onderwerpen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>
                <a:solidFill>
                  <a:srgbClr val="CCCCCC"/>
                </a:solidFill>
              </a:rPr>
              <a:t>▸  Creativiteit — origineel denken en out-of-the-box oplossingen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>
                <a:solidFill>
                  <a:srgbClr val="CCCCCC"/>
                </a:solidFill>
              </a:rPr>
              <a:t>▸  Energie &amp; enthousiasme — aanstekelijke gedrevenheid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>
                <a:solidFill>
                  <a:srgbClr val="CCCCCC"/>
                </a:solidFill>
              </a:rPr>
              <a:t>▸  Aanpassingsvermogen — goed in crisissituaties en snel schakelen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>
                <a:solidFill>
                  <a:srgbClr val="CCCCCC"/>
                </a:solidFill>
              </a:rPr>
              <a:t>▸  Empathie — sterk gevoel voor anderen, vooral bij ADD-type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4864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8888"/>
                </a:solidFill>
              </a:rPr>
              <a:t>Bekende mensen met ADHD: Albert Einstein, Simone Biles, Justin Timberlake, Richard Branson.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79576" cy="292608"/>
          </a:xfrm>
          <a:prstGeom prst="rect">
            <a:avLst/>
          </a:prstGeom>
          <a:solidFill>
            <a:srgbClr val="2A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393192"/>
            <a:ext cx="996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CONCLUSIE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A78BFA"/>
                </a:solidFill>
              </a:rPr>
              <a:t>Samenvatting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11430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CCCCCC"/>
                </a:solidFill>
              </a:rPr>
              <a:t>▸  ADHD is een neurologische stoornis, geen karakterfout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CCCCCC"/>
                </a:solidFill>
              </a:rPr>
              <a:t>▸  Het beïnvloedt aandacht, impulsiviteit en activiteitsniveau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CCCCCC"/>
                </a:solidFill>
              </a:rPr>
              <a:t>▸  Er zijn drie vormen: onoplettend, hyperactief en gecombineerd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CCCCCC"/>
                </a:solidFill>
              </a:rPr>
              <a:t>▸  Oorzaken zijn grotendeels genetisch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CCCCCC"/>
                </a:solidFill>
              </a:rPr>
              <a:t>▸  Behandeling combineert medicatie, therapie en begeleiding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CCCCCC"/>
                </a:solidFill>
              </a:rPr>
              <a:t>▸  Met de juiste steun kunnen mensen met ADHD floreren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943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88"/>
                </a:solidFill>
              </a:rPr>
              <a:t>Begrip en bewustwording maken het verschil.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